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5" r:id="rId5"/>
    <p:sldId id="260" r:id="rId6"/>
    <p:sldId id="264" r:id="rId7"/>
    <p:sldId id="276" r:id="rId8"/>
    <p:sldId id="277" r:id="rId9"/>
    <p:sldId id="262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6C9C3-956D-459C-A255-071A263D70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BF04B-6389-4D2C-8475-BCC0F2DFA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BF04B-6389-4D2C-8475-BCC0F2DFA01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2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5054-FFBB-169B-93B0-DB3DA0856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B92C6-0DBF-BA75-1230-B44A20CDC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FB2C2-622E-85C9-9FED-41B2ECB0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54599-0354-BAC5-083B-974424CA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E180E-1A3B-4760-9A04-4D6C7563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CDC3-5E6B-442E-E5A1-70FBAEBB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F74B-3B06-E800-1608-C687E2C0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2DC07-A018-7A05-C12F-B756571C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EBE0-490A-CF73-1008-4694AD32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A50F-3319-119B-719B-BE7DDF02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0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E0A4-2254-8A33-A033-BC980FA1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D224F-9379-A028-7770-942FDF9A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CF66-4F8B-C70B-663E-F6FBFFA0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05014-6471-1AC6-DB09-60702E90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55856-5161-58BA-66CA-BBD76219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5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D350-772D-975A-46BA-B11960A5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7350-82C1-D5A0-C82F-0CB17892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C6300-C2A1-230F-5BDC-BACC99294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787D2-8E08-F3CF-38DD-CD007C84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0A699-610C-3E13-443B-F91CE6F6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19699-4C51-4768-983F-2D268202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5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9214-8815-63BC-4672-57325B74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C762A-4AE4-DCFB-51D1-4DF7922A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96440-B619-3B64-0406-CB6B58694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224B9-EDE6-4F2C-CEAD-45E953E44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77AF2-CB95-A4CA-9DB9-BEA7E7E67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BF5B8-E824-22E3-78AF-B893C937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07374-8BEB-A72F-DE45-1F886DA4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105D1-04C2-4F21-23CE-F9767CE6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0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4D1-71AC-5A62-9591-B8A1E3A7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4782-1AE0-8A3F-81FC-3FEED4E3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5D19B-CEA8-5217-3E99-87D8F638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1B8D-0ED2-3F90-A46A-3C70F85D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3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1AAFF-0B11-42B9-5947-FE96F319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79FC6-CCF1-8A7E-B78D-4BAA7C9C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880D-D8F3-12AC-CA26-E78A95A7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D00E-5101-D4FE-0D56-2BC5A135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10F6-700D-7EDE-58A1-5ACBDFAD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98CEC-EA92-BBBC-A5EA-CAEEB7DD0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D6273-4767-FD3D-C625-E3341DD7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87D16-8F49-A0EC-29AD-CA4FAC4C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C4DEC-AA76-0319-D5FD-E4096D1D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D566-68F4-8A32-D91F-9C8999AC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2802E-DB17-5EF4-40F1-BC6F50EC4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A6BDD-89FF-EED1-6B41-336D53679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21BBC-C77E-71F8-AD76-293A4946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80CFF-1B1C-6099-6EEA-EF3F7E3F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4D70F-B57F-CBB6-69A7-4918D33A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2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4576-D487-DE61-3813-020F155F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0B0A6-B597-0DEF-1143-84BD72811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117A-0E56-FA00-8DD7-80BB65D2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D8AC-0178-D741-6CF9-6728860B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FB69-38A5-D415-85C8-B04D6FC4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3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C08BB-5FB5-9C76-4BAC-B75137DB6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31FDF-7C29-C056-5DCD-DEAB97F25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A4F53-41CF-4EED-32B7-80706272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67AB0-A1C8-6FD0-43E2-62B9D06A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0C89-EC3A-6568-4815-792CEE76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5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96A7E-DDE5-DAC6-7A61-B121C6DE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BD5A-E351-FF61-205B-A2536DF33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98EC-A3D8-911C-8820-B1560E24E0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0D1C8-4888-4EF3-CFB6-DD306C84D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A2A3-3B1E-F202-3446-D913CD177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B37E609F-90DB-792B-896C-E862CF204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1909" y="2013095"/>
            <a:ext cx="115954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Luxury Housing Sales Analysis – BLR</a:t>
            </a:r>
            <a:endParaRPr lang="en-US" sz="66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7B4CE4D-0839-A265-6EE8-BCAB4229E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5705" y="5089192"/>
            <a:ext cx="3261686" cy="150018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Mohan raj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Sr Component Engineer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6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8052-36D2-991C-DEA2-FB258205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97618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PROJECT OBJECTIVE</a:t>
            </a:r>
            <a:b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endParaRPr lang="en-US" sz="4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CD6-FF7E-B1BF-3AD1-CC9FAE0D7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Design and implement a comprehensive real estate analytics solution that mirrors a production-grade data pipeline used in enterprise environments.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project will leverage a large-scale housing dataset containing over 100,000 records to demonstrate robust data engineering, advanced analytics, and interactive reporting.</a:t>
            </a:r>
          </a:p>
        </p:txBody>
      </p:sp>
    </p:spTree>
    <p:extLst>
      <p:ext uri="{BB962C8B-B14F-4D97-AF65-F5344CB8AC3E}">
        <p14:creationId xmlns:p14="http://schemas.microsoft.com/office/powerpoint/2010/main" val="140813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10A2-CBB6-D9CE-8902-4C6CB80C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28163" cy="760290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C423-5F12-D9CD-065B-7C2D0FCB7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416"/>
            <a:ext cx="10515600" cy="505154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Advanced Data Cleaning &amp; Preprocessing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Exploratory Data Analysis (EDA)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Utilize Python and pandas to perform rigorous data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preparation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including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Missing value imputation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Outlier detection and treatment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Feature engineering and normalization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Validation of data integrity and consistency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Modularize the workflow for scalability and reproducibility.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35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45A7-2EF6-9F49-37D2-5989F445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 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03BD-B59C-5113-F920-09FEBBB1C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419"/>
            <a:ext cx="10515600" cy="5376456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Programming &amp; Data Processing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Python – Core programming language for data analysis and </a:t>
            </a:r>
            <a:r>
              <a:rPr lang="en-IN" sz="4500" dirty="0" err="1">
                <a:solidFill>
                  <a:schemeClr val="accent1">
                    <a:lumMod val="75000"/>
                  </a:schemeClr>
                </a:solidFill>
              </a:rPr>
              <a:t>modeling</a:t>
            </a: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pandas – Data manipulation, cleaning, and transformation.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scikit-learn – Machine learning, imputation (</a:t>
            </a:r>
            <a:r>
              <a:rPr lang="en-IN" sz="4500" dirty="0" err="1">
                <a:solidFill>
                  <a:schemeClr val="accent1">
                    <a:lumMod val="75000"/>
                  </a:schemeClr>
                </a:solidFill>
              </a:rPr>
              <a:t>KNNImputer</a:t>
            </a: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), and predictive modelling.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IN" sz="45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Data Visualization &amp; Reporting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Matplotlib &amp; Seaborn – For exploratory data analysis and static visualizations.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Power BI – For creating interactive dashboards, reports, and real-time insights visualization.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IN" sz="45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Data Storage &amp; Management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SQL – For scalable data querying and integration.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IN" sz="45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Deployment</a:t>
            </a: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	Power BI Service – To publish and share interactive dashboards.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3680-CE67-85D1-60A6-1F0DDD86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DATA EXTRACTION AND DATAFRAME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E121-CD52-1FDB-5777-D9EBE9D52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21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Data extraction is done locally by read comment for the CSV. File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Extracted data is validated for there “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dtype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 “,” non-null count”,” column”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If duplicate are found same is removed from the DF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Then the cleaned data is stored to the ‘MY SQL”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59503-9E1A-A127-3D9C-53A6E7A5B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33" y="3429000"/>
            <a:ext cx="11335333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0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0CC2-D00B-460E-4A45-487DA2EA4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396"/>
          </a:xfrm>
        </p:spPr>
        <p:txBody>
          <a:bodyPr>
            <a:normAutofit/>
          </a:bodyPr>
          <a:lstStyle/>
          <a:p>
            <a:pPr algn="ctr">
              <a:spcAft>
                <a:spcPts val="1200"/>
              </a:spcAft>
            </a:pPr>
            <a:r>
              <a:rPr lang="en-IN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EXPLORATORY DATA ANALYSIS (EDA)</a:t>
            </a:r>
            <a:endParaRPr lang="en-US" sz="4000" b="1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CD24-368C-0A02-7FB3-025C6EAD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272"/>
            <a:ext cx="10515600" cy="42292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F2A72-C368-6DC8-70BD-3CF865B0A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2742"/>
            <a:ext cx="4162458" cy="1485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9811FE-882C-F465-EDA1-D1BE272F6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110" y="5014425"/>
            <a:ext cx="3010055" cy="1447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706BFE-6C10-84C7-BBA4-8B232239A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818" y="5373744"/>
            <a:ext cx="3962667" cy="14478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3C82E4-C017-8AD5-4C7F-A200F5AD579F}"/>
              </a:ext>
            </a:extLst>
          </p:cNvPr>
          <p:cNvSpPr txBox="1"/>
          <p:nvPr/>
        </p:nvSpPr>
        <p:spPr>
          <a:xfrm>
            <a:off x="138223" y="1243975"/>
            <a:ext cx="118105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Micro_Markit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column has multiple discrepancies for the same area name. Used mapping method for standardization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Unit_Size_Sqft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-Data has right skewed and also able to find some outliners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Removed the outliners manually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Applied KNN imputation for null values – however observed unexpected spikes( 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n_neighbors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 5 and 10)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2349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5C23-635A-3CF4-D624-AA99EF15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281D-893D-EA73-42F4-D84072D10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Ticket_Price_Cr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- Data has outliers and missing values </a:t>
            </a:r>
          </a:p>
          <a:p>
            <a:pPr lvl="1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IQR method is used for handline the missing values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Applied KNN imputation for null values – however observed unexpected spikes(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n_neighbors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5 and 10)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9CDAC-E17E-B8AA-258D-D313AA29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3732028"/>
            <a:ext cx="4714765" cy="291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CB20B3-A022-0A66-175C-D931E602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00" y="3732028"/>
            <a:ext cx="5362575" cy="29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9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ABCD-A505-4040-0255-CCA51ED1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191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EXPLORATORY DATA ANALYSIS (EDA)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217ABB-BE96-562D-FE19-18A63893A4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91917" y="1616260"/>
            <a:ext cx="4784047" cy="435133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362BF-0918-FAE2-2574-0FC5DF22E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597" y="1616260"/>
            <a:ext cx="6635320" cy="4351338"/>
          </a:xfrm>
        </p:spPr>
        <p:txBody>
          <a:bodyPr>
            <a:normAutofit fontScale="92500" lnSpcReduction="20000"/>
          </a:bodyPr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Multiple columns have null values and outliners which got processed and fill the missing values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Data Type was changed accordingly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Future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Enginereing-Purchase_Quarter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is split into “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year”,”Month”&amp;”Day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”(Month is mapped for Quarter based analysis)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Buyers Comments-Which don’t have signified impact on the projection hence left as it is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Numerical values are standardized  </a:t>
            </a:r>
          </a:p>
        </p:txBody>
      </p:sp>
    </p:spTree>
    <p:extLst>
      <p:ext uri="{BB962C8B-B14F-4D97-AF65-F5344CB8AC3E}">
        <p14:creationId xmlns:p14="http://schemas.microsoft.com/office/powerpoint/2010/main" val="118846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F827-F5A8-0F2B-ABFF-D9C4402E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2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SQL 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523B-6B3E-B44B-5265-CF0DEAD8F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604"/>
            <a:ext cx="10515600" cy="557461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Set up a connection between your cleaned DataFrame and  MySQL database using ‘sqlalchemy’s ‘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Define MySQL credentials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Creates A connection engine that lets pandas or sqlalchemy's talk to your MySQL database.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Create a database in my SQL with the name “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</a:rPr>
              <a:t>project_lux_housing_blr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 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Finally moved the created DataFrame to ‘My SQL’ under the database “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</a:rPr>
              <a:t>lux_housing_blr_clean_data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”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47F51-62C3-D875-4EAE-1D44F60F8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210" y="4455041"/>
            <a:ext cx="6251357" cy="2051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B2A23D-504D-FFCD-A4E1-2A7D44A26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50" y="4455041"/>
            <a:ext cx="3978349" cy="20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25D6-1832-B4C8-D9AA-75FBD75C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39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Power BI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F2D1-93CD-4A6E-844E-D70F8AD86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7926"/>
            <a:ext cx="5181600" cy="46990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Connected Power BI to SQL DB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Using “New Measure” created below measure which will used for Visualization and its metrics </a:t>
            </a:r>
          </a:p>
          <a:p>
            <a:pPr lvl="1"/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</a:rPr>
              <a:t>Avg_Amenity_Score</a:t>
            </a:r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</a:rPr>
              <a:t>AVG_Ticket_Price</a:t>
            </a:r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</a:rPr>
              <a:t>Booking_Conversion_Rate</a:t>
            </a:r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</a:rPr>
              <a:t>Booking_Count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…etc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Using “New Column” created “</a:t>
            </a:r>
            <a:r>
              <a:rPr lang="en-IN" sz="2200" dirty="0" err="1">
                <a:solidFill>
                  <a:schemeClr val="accent1">
                    <a:lumMod val="75000"/>
                  </a:schemeClr>
                </a:solidFill>
              </a:rPr>
              <a:t>Booking_flag</a:t>
            </a: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”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0E993E9-D909-6EDC-8657-9DD2EFF446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533293"/>
            <a:ext cx="5181600" cy="9353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DDE988-FC51-CB57-BC40-B3157226D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740" y="2704481"/>
            <a:ext cx="5073911" cy="9353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673192-9321-6C2C-DE62-80A4DB4A8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270" y="4234576"/>
            <a:ext cx="5073911" cy="12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2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0F14-DA27-40A3-FC39-B3D877013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19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Power BI -Dashboard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F0F95-540A-4ECA-A668-9E6B219D1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7172"/>
            <a:ext cx="10676860" cy="530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3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CFA2EE-C5DA-D554-2E71-E08DF8307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721009" cy="68749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Power BI VISUALIZATION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05A38A-0A5E-269D-5539-191A14FDF2E3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94975" y="1158950"/>
            <a:ext cx="4944588" cy="50610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EBB04A-8F08-AC64-DC1A-3FDEBB973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524" y="1158951"/>
            <a:ext cx="5734502" cy="25837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19C347-B840-622A-558D-99B4D7CEE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524" y="4078621"/>
            <a:ext cx="5734502" cy="265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9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754C-08CE-B1DB-CE7C-EE583041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754" y="205638"/>
            <a:ext cx="6774711" cy="65560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Power BI VISUALIZATION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0E239-1332-04D6-4066-7F1B6CE8A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5" y="861240"/>
            <a:ext cx="5111973" cy="5433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DEB5EE-FC7C-973E-A0B9-0D00E3B3D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946" y="776180"/>
            <a:ext cx="3923785" cy="226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776998-A6E3-B40A-9ADC-FBB040428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768" y="3154689"/>
            <a:ext cx="6652437" cy="349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EBBD5A-A1A3-E81A-A9CC-758B6471C394}"/>
              </a:ext>
            </a:extLst>
          </p:cNvPr>
          <p:cNvSpPr txBox="1">
            <a:spLocks/>
          </p:cNvSpPr>
          <p:nvPr/>
        </p:nvSpPr>
        <p:spPr>
          <a:xfrm>
            <a:off x="561754" y="205638"/>
            <a:ext cx="4977809" cy="655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Power BI VISUALIZATION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E6BE7-A545-1E80-4DE8-03A5904EB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350334"/>
            <a:ext cx="5534247" cy="4392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530D76-07D9-FFE7-6AAB-8375CC28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14" y="1127051"/>
            <a:ext cx="5752214" cy="46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49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AFD1D2-8891-F7B4-D89C-9ACD0659F619}"/>
              </a:ext>
            </a:extLst>
          </p:cNvPr>
          <p:cNvSpPr txBox="1">
            <a:spLocks/>
          </p:cNvSpPr>
          <p:nvPr/>
        </p:nvSpPr>
        <p:spPr>
          <a:xfrm>
            <a:off x="402266" y="301331"/>
            <a:ext cx="4977809" cy="655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Power BI VISUALIZATION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F1B56-BE92-A14B-0366-BBFC695B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19" y="1833145"/>
            <a:ext cx="4759012" cy="424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FC88F-96A2-D194-5C5B-895232A68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731" y="1833145"/>
            <a:ext cx="6807550" cy="424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51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4603-4127-D43D-7B85-767EE244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287233" cy="751294"/>
          </a:xfrm>
        </p:spPr>
        <p:txBody>
          <a:bodyPr/>
          <a:lstStyle/>
          <a:p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CONCLUSIONS</a:t>
            </a:r>
            <a:r>
              <a:rPr lang="en-IN" b="1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02A0E-D4CD-8E67-DF8D-91F00278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420"/>
            <a:ext cx="10515600" cy="50605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Builder Performance:</a:t>
            </a:r>
            <a:endParaRPr lang="en-IN" sz="2200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Top developer in terms of total house sale price and revenue is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“prestige” 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If customer rating is available then we can rank builders for reliability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Configuration Demand: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Demand remains almost same. Meaning house configuration are equally spread across buyers groups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Geographical Insights: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Most of the projects are planned well within central BLR area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West BLR has very limited market saturation –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we can explore more options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East and South BLR  have higher market due to IT core hub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solidFill>
                  <a:schemeClr val="accent1">
                    <a:lumMod val="75000"/>
                  </a:schemeClr>
                </a:solidFill>
              </a:rPr>
              <a:t>Some spread on the north BLR due to BLR airport and some IT Hub has been opened recently –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we can push market in these upcoming areas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633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C763-F5BE-BA50-E9B3-F8284391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CONCLUSIONS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2B361-3617-6E0E-5C5A-739C219E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992"/>
            <a:ext cx="10515600" cy="5624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solidFill>
                  <a:schemeClr val="accent1">
                    <a:lumMod val="75000"/>
                  </a:schemeClr>
                </a:solidFill>
              </a:rPr>
              <a:t>Amenity Impact(</a:t>
            </a:r>
            <a:r>
              <a:rPr lang="en-IN" sz="1700" b="1" dirty="0" err="1">
                <a:solidFill>
                  <a:schemeClr val="accent1">
                    <a:lumMod val="75000"/>
                  </a:schemeClr>
                </a:solidFill>
              </a:rPr>
              <a:t>Booked_New</a:t>
            </a:r>
            <a:r>
              <a:rPr lang="en-IN" sz="1700" b="1" dirty="0">
                <a:solidFill>
                  <a:schemeClr val="accent1">
                    <a:lumMod val="75000"/>
                  </a:schemeClr>
                </a:solidFill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75000"/>
                  </a:schemeClr>
                </a:solidFill>
              </a:rPr>
              <a:t>Based on the average amenity Score most of the buyer segment looking for good amenity with average between 7.4 to 7.6 (Tight Scatter)</a:t>
            </a:r>
          </a:p>
          <a:p>
            <a:pPr>
              <a:lnSpc>
                <a:spcPct val="150000"/>
              </a:lnSpc>
            </a:pPr>
            <a:r>
              <a:rPr lang="en-IN" sz="1700" b="1" dirty="0">
                <a:solidFill>
                  <a:schemeClr val="accent1">
                    <a:lumMod val="75000"/>
                  </a:schemeClr>
                </a:solidFill>
              </a:rPr>
              <a:t>Amenity Impact(Resale):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75000"/>
                  </a:schemeClr>
                </a:solidFill>
              </a:rPr>
              <a:t>Based on the average amenity Score most of the buyer segment looking for good amenity with average between 7.4 to 7.6 (Tight Scatter)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75000"/>
                  </a:schemeClr>
                </a:solidFill>
              </a:rPr>
              <a:t>Some buyers looking for average between 7.6 to 7.8 for the resale – </a:t>
            </a:r>
            <a:r>
              <a:rPr lang="en-IN" sz="1700" b="1" dirty="0">
                <a:solidFill>
                  <a:schemeClr val="accent1">
                    <a:lumMod val="75000"/>
                  </a:schemeClr>
                </a:solidFill>
              </a:rPr>
              <a:t>That’s!</a:t>
            </a:r>
          </a:p>
          <a:p>
            <a:pPr>
              <a:lnSpc>
                <a:spcPct val="150000"/>
              </a:lnSpc>
            </a:pPr>
            <a:r>
              <a:rPr lang="en-IN" sz="1700" b="1" dirty="0">
                <a:solidFill>
                  <a:schemeClr val="accent1">
                    <a:lumMod val="75000"/>
                  </a:schemeClr>
                </a:solidFill>
              </a:rPr>
              <a:t>Booking Conversion: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75000"/>
                  </a:schemeClr>
                </a:solidFill>
              </a:rPr>
              <a:t> Conversion rate seems to equal across the micro market – demand is available in both the sectors</a:t>
            </a:r>
          </a:p>
          <a:p>
            <a:pPr>
              <a:lnSpc>
                <a:spcPct val="150000"/>
              </a:lnSpc>
            </a:pPr>
            <a:r>
              <a:rPr lang="en-IN" sz="1700" b="1" dirty="0">
                <a:solidFill>
                  <a:schemeClr val="accent1">
                    <a:lumMod val="75000"/>
                  </a:schemeClr>
                </a:solidFill>
              </a:rPr>
              <a:t>Sales Channel Efficiency: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75000"/>
                  </a:schemeClr>
                </a:solidFill>
              </a:rPr>
              <a:t> Equal demand across sales Channel(Broker, Direct, NRI and online) for both New and resale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sz="2800" dirty="0"/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7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121E-0ABD-D63C-3798-3C274336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5" y="243847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21117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5206</TotalTime>
  <Words>828</Words>
  <Application>Microsoft Office PowerPoint</Application>
  <PresentationFormat>Widescreen</PresentationFormat>
  <Paragraphs>103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Wingdings</vt:lpstr>
      <vt:lpstr>Office Theme</vt:lpstr>
      <vt:lpstr>Luxury Housing Sales Analysis – BLR</vt:lpstr>
      <vt:lpstr>PROJECT OBJECTIVE </vt:lpstr>
      <vt:lpstr>SCOPE OF WORK</vt:lpstr>
      <vt:lpstr> TOOLS &amp; TECHNOLOGIES</vt:lpstr>
      <vt:lpstr>DATA EXTRACTION AND DATAFRAME CREATION</vt:lpstr>
      <vt:lpstr>EXPLORATORY DATA ANALYSIS (EDA)</vt:lpstr>
      <vt:lpstr>EXPLORATORY DATA ANALYSIS (EDA)</vt:lpstr>
      <vt:lpstr>EXPLORATORY DATA ANALYSIS (EDA)</vt:lpstr>
      <vt:lpstr>SQL DATABASE AND TABLE CREATION</vt:lpstr>
      <vt:lpstr>Power BI VISUALIZATION</vt:lpstr>
      <vt:lpstr>Power BI -Dashboard</vt:lpstr>
      <vt:lpstr>Power BI VISUALIZATION</vt:lpstr>
      <vt:lpstr>Power BI VISUALIZATION</vt:lpstr>
      <vt:lpstr>PowerPoint Presentation</vt:lpstr>
      <vt:lpstr>PowerPoint Presentation</vt:lpstr>
      <vt:lpstr>CONCLUSIONS </vt:lpstr>
      <vt:lpstr>CONCLUSIONS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mohanrajmas19@gmail.com</dc:creator>
  <cp:lastModifiedBy>Mohanraj jayaraman</cp:lastModifiedBy>
  <cp:revision>15</cp:revision>
  <dcterms:created xsi:type="dcterms:W3CDTF">2025-10-22T18:25:53Z</dcterms:created>
  <dcterms:modified xsi:type="dcterms:W3CDTF">2025-11-12T04:42:12Z</dcterms:modified>
</cp:coreProperties>
</file>